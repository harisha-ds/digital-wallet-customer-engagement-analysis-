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raunces Extra Bold"/>
      <p:regular r:id="rId17"/>
    </p:embeddedFont>
    <p:embeddedFont>
      <p:font typeface="Fraunces Extra Bold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Digital Wallet Customer Engagement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Understanding declining engagement patterns and developing data-driven strategies to improve customer retention and platform activity.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60690"/>
            <a:ext cx="1340763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28675"/>
            <a:ext cx="106858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77660"/>
            <a:ext cx="66228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Engagement Crisis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530673"/>
            <a:ext cx="760428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digital wallet company observed significant decline in customer engagement across its platform. Users showed reduced app usage, lower transaction activity, and increasing inactivity periods since their last transaction.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8635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decline negatively impacts revenue, customer loyalty, and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5333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long-term retention, eventually leading to customer churn.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959096" y="2695099"/>
            <a:ext cx="48850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76%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9983986" y="37268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Dormant Users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959096" y="4308038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Inactive for over 90 days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959096" y="5237917"/>
            <a:ext cx="48850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2%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9983986" y="62697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Highly Active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959096" y="6850856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Regular platform users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9159"/>
            <a:ext cx="56916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Business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51566"/>
            <a:ext cx="4196358" cy="2940010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783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465427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85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User Segmentation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7605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active, inactive, and dormant users across the platform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051566"/>
            <a:ext cx="4196358" cy="2940010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2783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2465427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185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Behaviour Patterns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67605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Understand transaction and spending behaviour patterns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051566"/>
            <a:ext cx="4196358" cy="2940010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2783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895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2465427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185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Rewards Impact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67605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Evaluate effectiveness of rewards and incentives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5246727"/>
            <a:ext cx="4196358" cy="2093714"/>
          </a:xfrm>
          <a:prstGeom prst="roundRect">
            <a:avLst>
              <a:gd name="adj" fmla="val 975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51084" y="5504021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Churn Risk Identification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051084" y="6348770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Identify early warning indicators and high-risk customers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5216962" y="5246727"/>
            <a:ext cx="4196358" cy="2093714"/>
          </a:xfrm>
          <a:prstGeom prst="roundRect">
            <a:avLst>
              <a:gd name="adj" fmla="val 975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474256" y="5504021"/>
            <a:ext cx="35675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Support Impact Analysis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474256" y="5994440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Analyse customer support and satisfaction effects on engagement</a:t>
            </a:r>
            <a:endParaRPr lang="en-US" sz="1750" dirty="0"/>
          </a:p>
        </p:txBody>
      </p:sp>
      <p:sp>
        <p:nvSpPr>
          <p:cNvPr id="24" name="Shape 19"/>
          <p:cNvSpPr/>
          <p:nvPr/>
        </p:nvSpPr>
        <p:spPr>
          <a:xfrm>
            <a:off x="9640133" y="5246727"/>
            <a:ext cx="4196358" cy="2093714"/>
          </a:xfrm>
          <a:prstGeom prst="roundRect">
            <a:avLst>
              <a:gd name="adj" fmla="val 9750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897427" y="55040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Actionable Insights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9897427" y="5994440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 data-driven recommendations to improve retention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4566" y="835462"/>
            <a:ext cx="5227677" cy="50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Methodology &amp; Approach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054566" y="1586270"/>
            <a:ext cx="16228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054566" y="1839158"/>
            <a:ext cx="8007668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6054566" y="1965960"/>
            <a:ext cx="318492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Cleaning &amp; Preprocessing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054566" y="2316956"/>
            <a:ext cx="800766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Ensured consistency, removed missing values, created derived features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54566" y="2860715"/>
            <a:ext cx="16228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54566" y="3113603"/>
            <a:ext cx="8007668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0" name="Text 7"/>
          <p:cNvSpPr/>
          <p:nvPr/>
        </p:nvSpPr>
        <p:spPr>
          <a:xfrm>
            <a:off x="6054566" y="3240405"/>
            <a:ext cx="2706648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Exploratory Data Analysis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054566" y="3591401"/>
            <a:ext cx="800766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Examined demographics, app usage, engagement metrics, and rewards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54566" y="4135160"/>
            <a:ext cx="16228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4566" y="4388048"/>
            <a:ext cx="8007668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4" name="Text 11"/>
          <p:cNvSpPr/>
          <p:nvPr/>
        </p:nvSpPr>
        <p:spPr>
          <a:xfrm>
            <a:off x="6054566" y="4514850"/>
            <a:ext cx="2098000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 Engineering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054566" y="4865846"/>
            <a:ext cx="800766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engagement levels, activity status, and churn risk indicators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054566" y="5409605"/>
            <a:ext cx="162282" cy="20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54566" y="5662493"/>
            <a:ext cx="8007668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8" name="Text 15"/>
          <p:cNvSpPr/>
          <p:nvPr/>
        </p:nvSpPr>
        <p:spPr>
          <a:xfrm>
            <a:off x="6054566" y="5789295"/>
            <a:ext cx="245328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Segmentation &amp; Testing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054566" y="6140291"/>
            <a:ext cx="800766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Group-based analysis, hypothesis testing, and business interpretation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54566" y="6704290"/>
            <a:ext cx="8007668" cy="689729"/>
          </a:xfrm>
          <a:prstGeom prst="roundRect">
            <a:avLst>
              <a:gd name="adj" fmla="val 21183"/>
            </a:avLst>
          </a:prstGeom>
          <a:solidFill>
            <a:srgbClr val="CCE6D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48" y="6940272"/>
            <a:ext cx="202883" cy="16228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82013" y="6907054"/>
            <a:ext cx="731793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Tools Used: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Python, Pandas, NumPy, Matplotlib, Seaborn, SciPy for comprehensive analysis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37454" y="502325"/>
            <a:ext cx="1254443" cy="343376"/>
          </a:xfrm>
          <a:prstGeom prst="roundRect">
            <a:avLst>
              <a:gd name="adj" fmla="val 38308"/>
            </a:avLst>
          </a:prstGeom>
          <a:solidFill>
            <a:srgbClr val="438951"/>
          </a:solidFill>
          <a:ln/>
        </p:spPr>
      </p:sp>
      <p:sp>
        <p:nvSpPr>
          <p:cNvPr id="3" name="Text 1"/>
          <p:cNvSpPr/>
          <p:nvPr/>
        </p:nvSpPr>
        <p:spPr>
          <a:xfrm>
            <a:off x="1646992" y="557093"/>
            <a:ext cx="1035368" cy="233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FINDINGS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537454" y="918686"/>
            <a:ext cx="8070533" cy="57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Transaction &amp; Spending Behaviour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454" y="1969056"/>
            <a:ext cx="5554742" cy="55547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5586" y="1969056"/>
            <a:ext cx="411004" cy="411004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8139232" y="2031802"/>
            <a:ext cx="3064193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Power Users Drive Volume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139232" y="2499836"/>
            <a:ext cx="4961096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small group generates the highest transaction volumes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45586" y="3449479"/>
            <a:ext cx="411004" cy="411004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10" name="Text 7"/>
          <p:cNvSpPr/>
          <p:nvPr/>
        </p:nvSpPr>
        <p:spPr>
          <a:xfrm>
            <a:off x="8139232" y="3512225"/>
            <a:ext cx="2559844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Recency Matters Most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8139232" y="3980259"/>
            <a:ext cx="4961096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Recently active users transact significantly more than inactive users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45586" y="4929902"/>
            <a:ext cx="411004" cy="411004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8139232" y="4992648"/>
            <a:ext cx="3491032" cy="285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Moderate Engagement Impact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8139232" y="5460683"/>
            <a:ext cx="4961096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engagement users contribute slightly more transactions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819549" y="6250543"/>
            <a:ext cx="5280779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Recency of activity is a stronger indicator of transaction behaviour than usage frequency.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545586" y="6250543"/>
            <a:ext cx="22860" cy="584359"/>
          </a:xfrm>
          <a:prstGeom prst="rect">
            <a:avLst/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615791"/>
            <a:ext cx="9983391" cy="69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Rewards Programme Effectiveness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2604254" y="3213854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0%</a:t>
            </a:r>
            <a:endParaRPr lang="en-US" sz="4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2550" y="1817013"/>
            <a:ext cx="3352681" cy="33526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81870" y="5449014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Cashback Impact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82241" y="5932289"/>
            <a:ext cx="6393299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increase in transactions from cashback users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276874" y="3213854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44%</a:t>
            </a:r>
            <a:endParaRPr lang="en-US" sz="4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169" y="1817013"/>
            <a:ext cx="3352681" cy="33526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54490" y="5449014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High Churn Risk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7454860" y="5932289"/>
            <a:ext cx="6393299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identified as at-risk of leaving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82241" y="6541175"/>
            <a:ext cx="13065919" cy="1072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Current reward structures are not effectively influencing user behaviour. Cashback users do not transact more than non-cashback users, and loyalty points show limited impact on increasing transaction frequency. Existing reward programmes require redesign to encourage consistent usage rather than one-time transactions.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8120" y="536258"/>
            <a:ext cx="8143280" cy="609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Customer Segmentation Insights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120" y="1535549"/>
            <a:ext cx="3948827" cy="39488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8120" y="5679281"/>
            <a:ext cx="2776895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Mid-Age Users (36–55)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148120" y="6100763"/>
            <a:ext cx="3948827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Show higher disengagement despite being prime demographic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668" y="1535549"/>
            <a:ext cx="3948827" cy="39488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0668" y="5679281"/>
            <a:ext cx="243756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Older Users (65+)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340668" y="6100763"/>
            <a:ext cx="3948827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higher transaction volumes despite lower engagement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215" y="1535549"/>
            <a:ext cx="3948946" cy="39489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33215" y="5679400"/>
            <a:ext cx="243756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All Demographics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533215" y="6100882"/>
            <a:ext cx="3948946" cy="62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Engagement consistently low across age, income, and location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440537" y="7163395"/>
            <a:ext cx="12041624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Insight: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Behavioural segmentation is more meaningful than demographic segmentation for targeting strategies.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148120" y="6944082"/>
            <a:ext cx="22860" cy="750570"/>
          </a:xfrm>
          <a:prstGeom prst="rect">
            <a:avLst/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32" y="622935"/>
            <a:ext cx="3196828" cy="424577"/>
          </a:xfrm>
          <a:prstGeom prst="roundRect">
            <a:avLst>
              <a:gd name="adj" fmla="val 38324"/>
            </a:avLst>
          </a:prstGeom>
          <a:solidFill>
            <a:srgbClr val="438951"/>
          </a:solidFill>
          <a:ln/>
        </p:spPr>
      </p:sp>
      <p:sp>
        <p:nvSpPr>
          <p:cNvPr id="3" name="Text 1"/>
          <p:cNvSpPr/>
          <p:nvPr/>
        </p:nvSpPr>
        <p:spPr>
          <a:xfrm>
            <a:off x="926425" y="690682"/>
            <a:ext cx="2925842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0932" y="1137880"/>
            <a:ext cx="6104453" cy="70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Reducing Churn Risk</a:t>
            </a:r>
            <a:endParaRPr lang="en-US" sz="4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32" y="2183011"/>
            <a:ext cx="1129903" cy="13558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6816" y="2408992"/>
            <a:ext cx="432911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Monitor Inactivity Thresholds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146816" y="2897624"/>
            <a:ext cx="11692652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7, 30, and 90-day inactivity periods and trigger early interventions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32" y="3538895"/>
            <a:ext cx="1129903" cy="13558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46816" y="3764875"/>
            <a:ext cx="417409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Personalised Re-engagement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146816" y="4253508"/>
            <a:ext cx="11692652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personalised campaigns instead of generic offers based on user behaviour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32" y="4894778"/>
            <a:ext cx="1129903" cy="13558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46816" y="5120759"/>
            <a:ext cx="3010257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Improve Onboarding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2146816" y="5609392"/>
            <a:ext cx="11692652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Enhance onboarding experience to prevent early disengagement</a:t>
            </a:r>
            <a:endParaRPr lang="en-US" sz="1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32" y="6250662"/>
            <a:ext cx="1129903" cy="13558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146816" y="6476643"/>
            <a:ext cx="3938945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Prioritise High-Value Users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2146816" y="6965275"/>
            <a:ext cx="11692652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retention efforts on high-value users with declining engagement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5975" y="456248"/>
            <a:ext cx="619637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Support &amp; Retention Strategy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2085975" y="1386245"/>
            <a:ext cx="4236363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How Support Improves Retention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085975" y="1861423"/>
            <a:ext cx="5027414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Proactively follow up with users reporting low satisfaction scores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85975" y="2448401"/>
            <a:ext cx="5027414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quality issue resolution rather than only reducing resolution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85975" y="3035379"/>
            <a:ext cx="5027414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support interactions to educate users about app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85975" y="3622358"/>
            <a:ext cx="5027414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repeated support issues as early churn warning signals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393" y="1406962"/>
            <a:ext cx="5027414" cy="50274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85975" y="6806327"/>
            <a:ext cx="10458331" cy="967026"/>
          </a:xfrm>
          <a:prstGeom prst="roundRect">
            <a:avLst>
              <a:gd name="adj" fmla="val 15389"/>
            </a:avLst>
          </a:prstGeom>
          <a:solidFill>
            <a:srgbClr val="CCE6D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234" y="7043499"/>
            <a:ext cx="206573" cy="1652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23066" y="7012900"/>
            <a:ext cx="9755981" cy="529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Customer satisfaction is closely linked with churn risk. Users with poor support experiences may continue using the app temporarily but are more likely to disengage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4582" y="1334691"/>
            <a:ext cx="7499509" cy="62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Impact &amp; Conclusions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184582" y="2257306"/>
            <a:ext cx="3774043" cy="1468517"/>
          </a:xfrm>
          <a:prstGeom prst="roundRect">
            <a:avLst>
              <a:gd name="adj" fmla="val 12226"/>
            </a:avLst>
          </a:prstGeom>
          <a:solidFill>
            <a:srgbClr val="438951"/>
          </a:solidFill>
          <a:ln/>
        </p:spPr>
      </p:sp>
      <p:sp>
        <p:nvSpPr>
          <p:cNvPr id="5" name="Text 2"/>
          <p:cNvSpPr/>
          <p:nvPr/>
        </p:nvSpPr>
        <p:spPr>
          <a:xfrm>
            <a:off x="6384012" y="2456736"/>
            <a:ext cx="3134439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Churn Drivers Identified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384012" y="2887980"/>
            <a:ext cx="3375184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factors affecting nearly half of the user base uncovered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10158055" y="2257306"/>
            <a:ext cx="3774162" cy="1468517"/>
          </a:xfrm>
          <a:prstGeom prst="roundRect">
            <a:avLst>
              <a:gd name="adj" fmla="val 12226"/>
            </a:avLst>
          </a:prstGeom>
          <a:solidFill>
            <a:srgbClr val="438951"/>
          </a:solidFill>
          <a:ln/>
        </p:spPr>
      </p:sp>
      <p:sp>
        <p:nvSpPr>
          <p:cNvPr id="8" name="Text 5"/>
          <p:cNvSpPr/>
          <p:nvPr/>
        </p:nvSpPr>
        <p:spPr>
          <a:xfrm>
            <a:off x="10357485" y="2456736"/>
            <a:ext cx="3317438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Programme Inefficiencies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357485" y="2887980"/>
            <a:ext cx="3375303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Highlighted weaknesses in reward and incentive structures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184582" y="3925253"/>
            <a:ext cx="7747635" cy="1149310"/>
          </a:xfrm>
          <a:prstGeom prst="roundRect">
            <a:avLst>
              <a:gd name="adj" fmla="val 15622"/>
            </a:avLst>
          </a:prstGeom>
          <a:solidFill>
            <a:srgbClr val="438951"/>
          </a:solidFill>
          <a:ln/>
        </p:spPr>
      </p:sp>
      <p:sp>
        <p:nvSpPr>
          <p:cNvPr id="11" name="Text 8"/>
          <p:cNvSpPr/>
          <p:nvPr/>
        </p:nvSpPr>
        <p:spPr>
          <a:xfrm>
            <a:off x="6384012" y="4124682"/>
            <a:ext cx="3799284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Actionable Recommendations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384012" y="4555927"/>
            <a:ext cx="7348776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Delivered strategies to improve engagement and retention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184582" y="5298877"/>
            <a:ext cx="7747635" cy="159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Declining engagement is primarily driven by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DFEEE2"/>
                </a:highlight>
                <a:latin typeface="Nobile" pitchFamily="34" charset="0"/>
                <a:ea typeface="Nobile" pitchFamily="34" charset="-122"/>
                <a:cs typeface="Nobile" pitchFamily="34" charset="-120"/>
              </a:rPr>
              <a:t>inactivity, weak reward effectiveness, and declining customer satisfaction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rather than demographic factors. By focusing on behavioural signals and proactive retention strategies, the business can significantly improve customer engagement, reduce churn risk, and enhance long-term value.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2026-01-06T13:44:37Z</dcterms:created>
  <dcterms:modified xsi:type="dcterms:W3CDTF">2026-01-06T13:44:37Z</dcterms:modified>
</cp:coreProperties>
</file>